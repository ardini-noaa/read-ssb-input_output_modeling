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  <p:sldMasterId id="2147483658" r:id="rId3"/>
  </p:sldMasterIdLst>
  <p:notesMasterIdLst>
    <p:notesMasterId r:id="rId22"/>
  </p:notesMasterIdLst>
  <p:sldIdLst>
    <p:sldId id="256" r:id="rId4"/>
    <p:sldId id="273" r:id="rId5"/>
    <p:sldId id="300" r:id="rId6"/>
    <p:sldId id="277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301" r:id="rId21"/>
  </p:sldIdLst>
  <p:sldSz cx="9144000" cy="6858000" type="screen4x3"/>
  <p:notesSz cx="7315200" cy="9601200"/>
  <p:embeddedFontLst>
    <p:embeddedFont>
      <p:font typeface="Arial Narrow" panose="020B0606020202030204" pitchFamily="3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orient="horz" pos="758">
          <p15:clr>
            <a:srgbClr val="A4A3A4"/>
          </p15:clr>
        </p15:guide>
        <p15:guide id="3" pos="28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h6QMN2tyPfHRdH6ieVhS08wBCu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71348B-94D2-4416-931B-A0AE7803587E}">
  <a:tblStyle styleId="{2371348B-94D2-4416-931B-A0AE780358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66" autoAdjust="0"/>
  </p:normalViewPr>
  <p:slideViewPr>
    <p:cSldViewPr snapToGrid="0">
      <p:cViewPr varScale="1">
        <p:scale>
          <a:sx n="49" d="100"/>
          <a:sy n="49" d="100"/>
        </p:scale>
        <p:origin x="1780" y="44"/>
      </p:cViewPr>
      <p:guideLst>
        <p:guide orient="horz" pos="1885"/>
        <p:guide orient="horz" pos="758"/>
        <p:guide pos="28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98"/>
    </p:cViewPr>
  </p:sorterViewPr>
  <p:notesViewPr>
    <p:cSldViewPr snapToGrid="0">
      <p:cViewPr varScale="1">
        <p:scale>
          <a:sx n="78" d="100"/>
          <a:sy n="78" d="100"/>
        </p:scale>
        <p:origin x="3132" y="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 txBox="1">
            <a:spLocks noGrp="1"/>
          </p:cNvSpPr>
          <p:nvPr>
            <p:ph type="sldNum" idx="12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970026-7735-4558-ACD8-B4065FD19178}" type="slidenum">
              <a:rPr lang="en-US" altLang="en-US" smtClean="0">
                <a:latin typeface="Arial" panose="020B0604020202020204" pitchFamily="34" charset="0"/>
              </a:rPr>
              <a:pPr/>
              <a:t>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 smtClean="0"/>
              <a:t>Created:</a:t>
            </a:r>
          </a:p>
          <a:p>
            <a:pPr eaLnBrk="1" hangingPunct="1"/>
            <a:r>
              <a:rPr lang="en-US" altLang="en-US" baseline="0" dirty="0" smtClean="0"/>
              <a:t>394 harvesting sectors (23 </a:t>
            </a:r>
            <a:r>
              <a:rPr lang="en-US" altLang="en-US" baseline="0" dirty="0" err="1" smtClean="0"/>
              <a:t>subregions</a:t>
            </a:r>
            <a:r>
              <a:rPr lang="en-US" altLang="en-US" baseline="0" dirty="0" smtClean="0"/>
              <a:t> * 18 gear sectors)</a:t>
            </a:r>
          </a:p>
          <a:p>
            <a:pPr eaLnBrk="1" hangingPunct="1"/>
            <a:r>
              <a:rPr lang="en-US" altLang="en-US" baseline="0" dirty="0" smtClean="0"/>
              <a:t>23 wholesale seafood dealer sectors (one in each </a:t>
            </a:r>
            <a:r>
              <a:rPr lang="en-US" altLang="en-US" baseline="0" dirty="0" err="1" smtClean="0"/>
              <a:t>subregion</a:t>
            </a:r>
            <a:r>
              <a:rPr lang="en-US" altLang="en-US" baseline="0" dirty="0" smtClean="0"/>
              <a:t>)</a:t>
            </a:r>
          </a:p>
          <a:p>
            <a:pPr eaLnBrk="1" hangingPunct="1"/>
            <a:r>
              <a:rPr lang="en-US" altLang="en-US" baseline="0" dirty="0" smtClean="0"/>
              <a:t>23 new seafood processing sectors</a:t>
            </a:r>
          </a:p>
          <a:p>
            <a:pPr eaLnBrk="1" hangingPunct="1"/>
            <a:r>
              <a:rPr lang="en-US" altLang="en-US" baseline="0" dirty="0" smtClean="0"/>
              <a:t>4 fish exchange sectors and 46 bait supplying sectors</a:t>
            </a:r>
          </a:p>
          <a:p>
            <a:pPr eaLnBrk="1" hangingPunct="1"/>
            <a:endParaRPr lang="en-US" altLang="en-US" baseline="0" dirty="0" smtClean="0"/>
          </a:p>
          <a:p>
            <a:pPr eaLnBrk="1" hangingPunct="1"/>
            <a:r>
              <a:rPr lang="en-US" altLang="en-US" baseline="0" dirty="0" smtClean="0"/>
              <a:t>Model consisted of 997 sectors (507 default IMPLAN sectors and 490 new sectors)</a:t>
            </a:r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4495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970026-7735-4558-ACD8-B4065FD19178}" type="slidenum">
              <a:rPr lang="en-US" altLang="en-US" smtClean="0">
                <a:latin typeface="Arial" panose="020B0604020202020204" pitchFamily="34" charset="0"/>
              </a:rPr>
              <a:pPr/>
              <a:t>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91565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60A73A-DFB9-4416-835E-84D34F3D6F9F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0199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2D471F1-232B-4325-BE71-79B6093A00C5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 smtClean="0"/>
              <a:t>Disaggregated by size when possible.  </a:t>
            </a:r>
          </a:p>
          <a:p>
            <a:r>
              <a:rPr lang="en-US" altLang="en-US" dirty="0" smtClean="0"/>
              <a:t>Disproportionality: Examine impacts between large and small entities</a:t>
            </a:r>
          </a:p>
          <a:p>
            <a:endParaRPr lang="en-US" altLang="en-US" dirty="0" smtClean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82321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28BA3BE-9FE2-4DAA-9A8F-892A925E86B0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9739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C05CFC1-5399-4146-9BB4-0290F70CB954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67669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B6755A-57AB-4ADB-B0A9-BBDF4582ADA3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7012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2DE3C04-7C59-4D7B-95F5-92F3299D5754}" type="slidenum">
              <a:rPr lang="en-US" altLang="en-US" smtClean="0">
                <a:latin typeface="Arial" panose="020B0604020202020204" pitchFamily="34" charset="0"/>
              </a:rPr>
              <a:pPr/>
              <a:t>10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61041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302E015-A870-410F-BCFE-AB3CB0350887}" type="slidenum">
              <a:rPr lang="en-US" altLang="en-US" smtClean="0">
                <a:latin typeface="Arial" panose="020B0604020202020204" pitchFamily="34" charset="0"/>
              </a:rPr>
              <a:pPr/>
              <a:t>11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16003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C6B5BEAF-F909-438C-848B-65F76F3C72BE}" type="slidenum">
              <a:rPr lang="en-US" altLang="en-US" smtClean="0">
                <a:latin typeface="Arial" panose="020B0604020202020204" pitchFamily="34" charset="0"/>
              </a:rPr>
              <a:pPr/>
              <a:t>12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47215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2CF85DC-4915-4FC1-8034-4F49282229AD}" type="slidenum">
              <a:rPr lang="en-US" altLang="en-US" smtClean="0">
                <a:latin typeface="Arial" panose="020B0604020202020204" pitchFamily="34" charset="0"/>
              </a:rPr>
              <a:pPr/>
              <a:t>13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06180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3847E64-789C-4B57-A585-D3BF502F1B6A}" type="slidenum">
              <a:rPr lang="en-US" altLang="en-US" smtClean="0">
                <a:latin typeface="Arial" panose="020B0604020202020204" pitchFamily="34" charset="0"/>
              </a:rPr>
              <a:pPr/>
              <a:t>14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49315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4BD5984-5EB2-417C-BD42-172A377FB0C7}" type="slidenum">
              <a:rPr lang="en-US" altLang="en-US" smtClean="0">
                <a:latin typeface="Arial" panose="020B0604020202020204" pitchFamily="34" charset="0"/>
              </a:rPr>
              <a:pPr/>
              <a:t>15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65966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2668AE-369F-4D7B-89A2-01B94A1933BD}" type="slidenum">
              <a:rPr lang="en-US" altLang="en-US" smtClean="0">
                <a:latin typeface="Arial" panose="020B0604020202020204" pitchFamily="34" charset="0"/>
              </a:rPr>
              <a:pPr/>
              <a:t>16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04370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- No photo">
  <p:cSld name="1_Title - No phot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Google Shape;18;p19" descr="G:\STALL\ST Comms\Templates &amp; Resources\Powerpoints\PowerPoint Templates\Title Slide -- swoosh alternatives\PPT swoosh with logo\With Pictures\Photo Swoosh PPT - Rec Boats 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1" cy="3118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Dark">
  <p:cSld name="Title - Dar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body" idx="1"/>
          </p:nvPr>
        </p:nvSpPr>
        <p:spPr>
          <a:xfrm>
            <a:off x="3201988" y="2707457"/>
            <a:ext cx="5484812" cy="122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2"/>
          </p:nvPr>
        </p:nvSpPr>
        <p:spPr>
          <a:xfrm>
            <a:off x="463550" y="3118590"/>
            <a:ext cx="1293813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3"/>
          </p:nvPr>
        </p:nvSpPr>
        <p:spPr>
          <a:xfrm>
            <a:off x="3201988" y="4282303"/>
            <a:ext cx="5484812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/>
          <p:nvPr/>
        </p:nvSpPr>
        <p:spPr>
          <a:xfrm>
            <a:off x="-9190" y="4417160"/>
            <a:ext cx="9170673" cy="2457785"/>
          </a:xfrm>
          <a:custGeom>
            <a:avLst/>
            <a:gdLst/>
            <a:ahLst/>
            <a:cxnLst/>
            <a:rect l="l" t="t" r="r" b="b"/>
            <a:pathLst>
              <a:path w="9170673" h="2457785" extrusionOk="0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>
                <a:solidFill>
                  <a:schemeClr val="dk2"/>
                </a:solidFill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solidFill>
                  <a:schemeClr val="dk2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solidFill>
                  <a:schemeClr val="dk2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>
                <a:solidFill>
                  <a:schemeClr val="dk2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U.S. Department of Commerce | National Oceanic and Atmospheric Administration | NOAA Fisheries | Page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100"/>
            <a:ext cx="8229600" cy="698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791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066800"/>
            <a:ext cx="4038600" cy="2819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4038600" cy="28194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59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bg>
      <p:bgPr>
        <a:solidFill>
          <a:srgbClr val="1E5C90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/>
          <p:nvPr/>
        </p:nvSpPr>
        <p:spPr>
          <a:xfrm rot="10800000">
            <a:off x="-1" y="-24487"/>
            <a:ext cx="9138586" cy="2515079"/>
          </a:xfrm>
          <a:custGeom>
            <a:avLst/>
            <a:gdLst/>
            <a:ahLst/>
            <a:cxnLst/>
            <a:rect l="l" t="t" r="r" b="b"/>
            <a:pathLst>
              <a:path w="9138586" h="2515079" extrusionOk="0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457199" y="457169"/>
            <a:ext cx="8229600" cy="772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Narrow"/>
              <a:buNone/>
              <a:defRPr sz="4000" b="1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body" idx="1"/>
          </p:nvPr>
        </p:nvSpPr>
        <p:spPr>
          <a:xfrm>
            <a:off x="457200" y="1415622"/>
            <a:ext cx="8229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U.S. Department of Commerce | National Oceanic and Atmospheric Administration | NOAA Fisheries | Page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 Narrow"/>
              <a:buNone/>
              <a:defRPr sz="4400" b="1" i="0" u="none" strike="noStrike" cap="none">
                <a:solidFill>
                  <a:schemeClr val="accen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/>
          <p:nvPr/>
        </p:nvSpPr>
        <p:spPr>
          <a:xfrm>
            <a:off x="-9190" y="4417160"/>
            <a:ext cx="9170673" cy="2457785"/>
          </a:xfrm>
          <a:custGeom>
            <a:avLst/>
            <a:gdLst/>
            <a:ahLst/>
            <a:cxnLst/>
            <a:rect l="l" t="t" r="r" b="b"/>
            <a:pathLst>
              <a:path w="9170673" h="2457785" extrusionOk="0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rgbClr val="E6EB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3200"/>
              <a:buFont typeface="Arial Narrow"/>
              <a:buNone/>
              <a:defRPr sz="3200" b="1" i="0" u="none" strike="noStrike" cap="none">
                <a:solidFill>
                  <a:srgbClr val="009999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U.S. Department of Commerce | National Oceanic and Atmospheric Administration | NOAA Fisheries | Page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2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0" descr="NOAA-Fisheries-horizont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504" y="6419088"/>
            <a:ext cx="1643940" cy="3887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60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0" name="Google Shape;60;p28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3200"/>
              <a:buFont typeface="Arial Narrow"/>
              <a:buNone/>
              <a:defRPr sz="3200" b="1" i="0" u="none" strike="noStrike" cap="none">
                <a:solidFill>
                  <a:srgbClr val="009999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318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sldNum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U.S. Department of Commerce | National Oceanic and Atmospheric Administration | NOAA Fisheries | Page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505" y="6419088"/>
            <a:ext cx="1643938" cy="38874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title"/>
          </p:nvPr>
        </p:nvSpPr>
        <p:spPr>
          <a:xfrm>
            <a:off x="2299164" y="1349759"/>
            <a:ext cx="6511165" cy="13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E8F54"/>
              </a:buClr>
              <a:buSzPts val="3200"/>
              <a:buFont typeface="Arial Narrow"/>
              <a:buNone/>
            </a:pPr>
            <a:r>
              <a:rPr lang="en-US" sz="3200" dirty="0" smtClean="0">
                <a:solidFill>
                  <a:srgbClr val="EE8F54"/>
                </a:solidFill>
              </a:rPr>
              <a:t>Northeast Region Commercial Fishing Input-Output Model (NERIOM II)</a:t>
            </a:r>
            <a:r>
              <a:rPr lang="en-US" sz="4000" dirty="0">
                <a:solidFill>
                  <a:srgbClr val="EE8F54"/>
                </a:solidFill>
              </a:rPr>
              <a:t/>
            </a:r>
            <a:br>
              <a:rPr lang="en-US" sz="4000" dirty="0">
                <a:solidFill>
                  <a:srgbClr val="EE8F54"/>
                </a:solidFill>
              </a:rPr>
            </a:br>
            <a:r>
              <a:rPr lang="en-US" sz="2800" dirty="0">
                <a:solidFill>
                  <a:srgbClr val="3F929B"/>
                </a:solidFill>
              </a:rPr>
              <a:t> </a:t>
            </a:r>
            <a:endParaRPr sz="2800" dirty="0">
              <a:solidFill>
                <a:srgbClr val="3F929B"/>
              </a:solidFill>
            </a:endParaRPr>
          </a:p>
        </p:txBody>
      </p:sp>
      <p:sp>
        <p:nvSpPr>
          <p:cNvPr id="75" name="Google Shape;75;p1"/>
          <p:cNvSpPr txBox="1">
            <a:spLocks noGrp="1"/>
          </p:cNvSpPr>
          <p:nvPr>
            <p:ph type="body" idx="1"/>
          </p:nvPr>
        </p:nvSpPr>
        <p:spPr>
          <a:xfrm>
            <a:off x="2299164" y="2748231"/>
            <a:ext cx="6319441" cy="2302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US" sz="1800" b="1" dirty="0" smtClean="0">
                <a:solidFill>
                  <a:srgbClr val="002060"/>
                </a:solidFill>
              </a:rPr>
              <a:t> 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US" b="1" dirty="0">
                <a:solidFill>
                  <a:srgbClr val="002060"/>
                </a:solidFill>
              </a:rPr>
              <a:t>Scott </a:t>
            </a:r>
            <a:r>
              <a:rPr lang="en-US" b="1" dirty="0" err="1" smtClean="0">
                <a:solidFill>
                  <a:srgbClr val="002060"/>
                </a:solidFill>
              </a:rPr>
              <a:t>Steinback</a:t>
            </a:r>
            <a:r>
              <a:rPr lang="en-US" b="1" dirty="0" smtClean="0">
                <a:solidFill>
                  <a:srgbClr val="002060"/>
                </a:solidFill>
              </a:rPr>
              <a:t> and Greg </a:t>
            </a:r>
            <a:r>
              <a:rPr lang="en-US" b="1" dirty="0" err="1" smtClean="0">
                <a:solidFill>
                  <a:srgbClr val="002060"/>
                </a:solidFill>
              </a:rPr>
              <a:t>Ardini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en-US" b="1" dirty="0" smtClean="0">
                <a:solidFill>
                  <a:srgbClr val="002060"/>
                </a:solidFill>
              </a:rPr>
              <a:t>Northeast </a:t>
            </a:r>
            <a:r>
              <a:rPr lang="en-US" b="1" dirty="0">
                <a:solidFill>
                  <a:srgbClr val="002060"/>
                </a:solidFill>
              </a:rPr>
              <a:t>Fisheries Science </a:t>
            </a:r>
            <a:r>
              <a:rPr lang="en-US" b="1" dirty="0" smtClean="0">
                <a:solidFill>
                  <a:srgbClr val="002060"/>
                </a:solidFill>
              </a:rPr>
              <a:t>Center</a:t>
            </a:r>
          </a:p>
          <a:p>
            <a:pPr marL="0" indent="0" algn="l">
              <a:spcBef>
                <a:spcPts val="0"/>
              </a:spcBef>
              <a:buClr>
                <a:srgbClr val="002060"/>
              </a:buClr>
            </a:pPr>
            <a:endParaRPr lang="en-US" sz="2000" b="1" dirty="0" smtClean="0">
              <a:solidFill>
                <a:srgbClr val="002060"/>
              </a:solidFill>
            </a:endParaRPr>
          </a:p>
          <a:p>
            <a:pPr marL="0" indent="0" algn="l">
              <a:spcBef>
                <a:spcPts val="0"/>
              </a:spcBef>
              <a:buClr>
                <a:srgbClr val="002060"/>
              </a:buClr>
            </a:pPr>
            <a:r>
              <a:rPr lang="en-US" sz="2000" b="1" dirty="0" smtClean="0">
                <a:solidFill>
                  <a:srgbClr val="002060"/>
                </a:solidFill>
              </a:rPr>
              <a:t>2024 NOAA Fisheries Economics &amp; Social Sciences Workshop</a:t>
            </a:r>
          </a:p>
          <a:p>
            <a:pPr marL="0" indent="0" algn="l">
              <a:spcBef>
                <a:spcPts val="0"/>
              </a:spcBef>
              <a:buClr>
                <a:srgbClr val="002060"/>
              </a:buClr>
            </a:pPr>
            <a:r>
              <a:rPr lang="en-US" sz="2000" b="1" dirty="0" smtClean="0">
                <a:solidFill>
                  <a:srgbClr val="002060"/>
                </a:solidFill>
              </a:rPr>
              <a:t>IO Model Developments</a:t>
            </a:r>
            <a:endParaRPr lang="en-US" sz="2000" b="1" dirty="0">
              <a:solidFill>
                <a:srgbClr val="002060"/>
              </a:solidFill>
            </a:endParaRPr>
          </a:p>
          <a:p>
            <a:pPr marL="0" indent="0" algn="l">
              <a:spcBef>
                <a:spcPts val="0"/>
              </a:spcBef>
              <a:buClr>
                <a:srgbClr val="002060"/>
              </a:buClr>
            </a:pPr>
            <a:r>
              <a:rPr lang="en-US" sz="2000" b="1" dirty="0">
                <a:solidFill>
                  <a:srgbClr val="002060"/>
                </a:solidFill>
              </a:rPr>
              <a:t>September 10, 2024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endParaRPr lang="en-US" sz="1800" dirty="0">
              <a:solidFill>
                <a:srgbClr val="002060"/>
              </a:solidFill>
            </a:endParaRPr>
          </a:p>
          <a:p>
            <a:pPr marL="0" lvl="0" indent="0" algn="r" rtl="0">
              <a:spcBef>
                <a:spcPts val="36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endParaRPr lang="en-US" sz="1800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NERIOM I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799"/>
            <a:ext cx="8389088" cy="5206409"/>
          </a:xfrm>
        </p:spPr>
        <p:txBody>
          <a:bodyPr>
            <a:normAutofit/>
          </a:bodyPr>
          <a:lstStyle/>
          <a:p>
            <a:pPr marL="50800" indent="0" eaLnBrk="1" hangingPunct="1">
              <a:buNone/>
            </a:pPr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>
              <a:buFontTx/>
              <a:buNone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40" y="1433530"/>
            <a:ext cx="3466213" cy="448568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Picture 7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343" y="1342469"/>
            <a:ext cx="4039154" cy="4721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12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NERIOM I vs NERIOM II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799"/>
            <a:ext cx="8389088" cy="52064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NERIOM I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Internalized 490 </a:t>
            </a:r>
            <a:r>
              <a:rPr lang="en-US" altLang="en-US" dirty="0" err="1" smtClean="0"/>
              <a:t>subregional</a:t>
            </a:r>
            <a:r>
              <a:rPr lang="en-US" altLang="en-US" dirty="0" smtClean="0"/>
              <a:t> fishery-related </a:t>
            </a:r>
            <a:r>
              <a:rPr lang="en-US" altLang="en-US" dirty="0"/>
              <a:t>sectors and therefore explicitly </a:t>
            </a:r>
            <a:r>
              <a:rPr lang="en-US" altLang="en-US" dirty="0" smtClean="0"/>
              <a:t>modeled (1) the </a:t>
            </a:r>
            <a:r>
              <a:rPr lang="en-US" altLang="en-US" dirty="0"/>
              <a:t>inter-industry transactions between </a:t>
            </a:r>
            <a:r>
              <a:rPr lang="en-US" altLang="en-US" dirty="0" smtClean="0"/>
              <a:t>those sectors </a:t>
            </a:r>
            <a:r>
              <a:rPr lang="en-US" altLang="en-US" dirty="0"/>
              <a:t>and </a:t>
            </a:r>
            <a:r>
              <a:rPr lang="en-US" altLang="en-US" dirty="0" smtClean="0"/>
              <a:t>(2) between </a:t>
            </a:r>
            <a:r>
              <a:rPr lang="en-US" altLang="en-US" dirty="0"/>
              <a:t>the </a:t>
            </a:r>
            <a:r>
              <a:rPr lang="en-US" altLang="en-US" dirty="0" smtClean="0"/>
              <a:t>490 fishery-related </a:t>
            </a:r>
            <a:r>
              <a:rPr lang="en-US" altLang="en-US" dirty="0"/>
              <a:t>sectors and all the other </a:t>
            </a:r>
            <a:r>
              <a:rPr lang="en-US" altLang="en-US" dirty="0" smtClean="0"/>
              <a:t>default sectors </a:t>
            </a:r>
            <a:r>
              <a:rPr lang="en-US" altLang="en-US" dirty="0"/>
              <a:t>in the model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NERIOM II (Approach used in FEAM, </a:t>
            </a:r>
            <a:r>
              <a:rPr lang="en-US" altLang="en-US" dirty="0"/>
              <a:t>U.S. Minerals Management Service </a:t>
            </a:r>
            <a:r>
              <a:rPr lang="en-US" altLang="en-US" dirty="0" smtClean="0"/>
              <a:t>model, and FEUS)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Changes in ex-vessel revenues are allocated to IMPLAN sectors according to proportions contained in a production function and then these output values are multiplied by the IMPLAN-generated multipliers to estimate impacts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Model results are more aggregated and less flexible than NERIOM I, but much easier to construct/update/use </a:t>
            </a:r>
            <a:endParaRPr lang="en-US" altLang="en-US" dirty="0"/>
          </a:p>
          <a:p>
            <a:pPr marL="50800" indent="0">
              <a:buNone/>
            </a:pPr>
            <a:endParaRPr lang="en-US" altLang="en-US" dirty="0"/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  <a:p>
            <a:pPr eaLnBrk="1" hangingPunct="1">
              <a:buFontTx/>
              <a:buNone/>
            </a:pPr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9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NERIOM II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4864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 simplified I-O model that can be used for:</a:t>
            </a:r>
          </a:p>
          <a:p>
            <a:pPr eaLnBrk="1" hangingPunct="1"/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Economic contribution assessments</a:t>
            </a:r>
          </a:p>
          <a:p>
            <a:pPr lvl="1" eaLnBrk="1" hangingPunct="1"/>
            <a:r>
              <a:rPr lang="en-US" altLang="en-US" dirty="0" smtClean="0"/>
              <a:t>Economic impact assessments of fishery management actions in a timely manner</a:t>
            </a:r>
          </a:p>
          <a:p>
            <a:pPr lvl="1" eaLnBrk="1" hangingPunct="1"/>
            <a:r>
              <a:rPr lang="en-US" altLang="en-US" dirty="0" smtClean="0"/>
              <a:t>Linking to ecosystem models to calculate changes in economic indicators (e.g., jobs and income) </a:t>
            </a:r>
          </a:p>
          <a:p>
            <a:pPr lvl="1" eaLnBrk="1" hangingPunct="1"/>
            <a:endParaRPr lang="en-US" altLang="en-US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7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Model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267200"/>
          </a:xfrm>
        </p:spPr>
        <p:txBody>
          <a:bodyPr/>
          <a:lstStyle/>
          <a:p>
            <a:r>
              <a:rPr lang="en-US" altLang="en-US" smtClean="0"/>
              <a:t>Regulations target commercial harvesters and often specific species and gear sectors</a:t>
            </a:r>
          </a:p>
          <a:p>
            <a:r>
              <a:rPr lang="en-US" altLang="en-US" smtClean="0"/>
              <a:t>Grouped harvesting activities into 19 distinct species/species groups and 13 gear sectors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8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Commercial Harvesting Species/Species Groups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304800" y="1600200"/>
            <a:ext cx="4114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Times New Roman" panose="02020603050405020304" pitchFamily="18" charset="0"/>
              <a:buChar char="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	1) Black sea bass </a:t>
            </a:r>
          </a:p>
          <a:p>
            <a:pPr eaLnBrk="1" hangingPunct="1">
              <a:buFontTx/>
              <a:buNone/>
            </a:pPr>
            <a:r>
              <a:rPr lang="en-US" altLang="en-US"/>
              <a:t>	2) Bluefish</a:t>
            </a:r>
          </a:p>
          <a:p>
            <a:pPr eaLnBrk="1" hangingPunct="1">
              <a:buFontTx/>
              <a:buNone/>
            </a:pPr>
            <a:r>
              <a:rPr lang="en-US" altLang="en-US"/>
              <a:t>	3) Groundfish</a:t>
            </a:r>
          </a:p>
          <a:p>
            <a:pPr eaLnBrk="1" hangingPunct="1">
              <a:buFontTx/>
              <a:buNone/>
            </a:pPr>
            <a:r>
              <a:rPr lang="en-US" altLang="en-US"/>
              <a:t>	4) Herring</a:t>
            </a:r>
          </a:p>
          <a:p>
            <a:pPr eaLnBrk="1" hangingPunct="1">
              <a:buFontTx/>
              <a:buNone/>
            </a:pPr>
            <a:r>
              <a:rPr lang="en-US" altLang="en-US"/>
              <a:t>	5) Jonah crab</a:t>
            </a:r>
          </a:p>
          <a:p>
            <a:pPr eaLnBrk="1" hangingPunct="1">
              <a:buFontTx/>
              <a:buNone/>
            </a:pPr>
            <a:r>
              <a:rPr lang="en-US" altLang="en-US"/>
              <a:t>	6) Lobster</a:t>
            </a:r>
          </a:p>
          <a:p>
            <a:pPr eaLnBrk="1" hangingPunct="1">
              <a:buFontTx/>
              <a:buNone/>
            </a:pPr>
            <a:r>
              <a:rPr lang="en-US" altLang="en-US"/>
              <a:t>	7) Mackerel</a:t>
            </a:r>
          </a:p>
          <a:p>
            <a:pPr eaLnBrk="1" hangingPunct="1">
              <a:buFontTx/>
              <a:buNone/>
            </a:pPr>
            <a:r>
              <a:rPr lang="en-US" altLang="en-US"/>
              <a:t>	8) Monkfish</a:t>
            </a:r>
          </a:p>
          <a:p>
            <a:pPr eaLnBrk="1" hangingPunct="1">
              <a:buFontTx/>
              <a:buNone/>
            </a:pPr>
            <a:r>
              <a:rPr lang="en-US" altLang="en-US"/>
              <a:t>	9) Other species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657600" y="1600200"/>
            <a:ext cx="4038600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Times New Roman" panose="02020603050405020304" pitchFamily="18" charset="0"/>
              <a:buChar char="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10) Red crab </a:t>
            </a:r>
          </a:p>
          <a:p>
            <a:pPr eaLnBrk="1" hangingPunct="1">
              <a:buFontTx/>
              <a:buNone/>
            </a:pPr>
            <a:r>
              <a:rPr lang="en-US" altLang="en-US"/>
              <a:t>11) Scup</a:t>
            </a:r>
          </a:p>
          <a:p>
            <a:pPr eaLnBrk="1" hangingPunct="1">
              <a:buFontTx/>
              <a:buNone/>
            </a:pPr>
            <a:r>
              <a:rPr lang="en-US" altLang="en-US"/>
              <a:t>12) Sea scallop</a:t>
            </a:r>
          </a:p>
          <a:p>
            <a:pPr eaLnBrk="1" hangingPunct="1">
              <a:buFontTx/>
              <a:buNone/>
            </a:pPr>
            <a:r>
              <a:rPr lang="en-US" altLang="en-US"/>
              <a:t>13) Skate</a:t>
            </a:r>
          </a:p>
          <a:p>
            <a:pPr eaLnBrk="1" hangingPunct="1">
              <a:buFontTx/>
              <a:buNone/>
            </a:pPr>
            <a:r>
              <a:rPr lang="en-US" altLang="en-US"/>
              <a:t>14) Spiny dogfish</a:t>
            </a:r>
          </a:p>
          <a:p>
            <a:pPr eaLnBrk="1" hangingPunct="1">
              <a:buFontTx/>
              <a:buNone/>
            </a:pPr>
            <a:r>
              <a:rPr lang="en-US" altLang="en-US"/>
              <a:t>15) Squid</a:t>
            </a:r>
          </a:p>
          <a:p>
            <a:pPr eaLnBrk="1" hangingPunct="1">
              <a:buFontTx/>
              <a:buNone/>
            </a:pPr>
            <a:r>
              <a:rPr lang="en-US" altLang="en-US"/>
              <a:t>16) Summer flounder</a:t>
            </a:r>
          </a:p>
          <a:p>
            <a:pPr eaLnBrk="1" hangingPunct="1">
              <a:buFontTx/>
              <a:buNone/>
            </a:pPr>
            <a:r>
              <a:rPr lang="en-US" altLang="en-US"/>
              <a:t>17) Surf clam/ocean quahog</a:t>
            </a:r>
          </a:p>
          <a:p>
            <a:pPr eaLnBrk="1" hangingPunct="1">
              <a:buFontTx/>
              <a:buNone/>
            </a:pPr>
            <a:r>
              <a:rPr lang="en-US" altLang="en-US"/>
              <a:t>18) Tilefish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591300" y="1600200"/>
            <a:ext cx="2209800" cy="392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Times New Roman" panose="02020603050405020304" pitchFamily="18" charset="0"/>
              <a:buChar char="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19) Whiting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Commercial Harvesting Gear Groups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228600" y="1447800"/>
            <a:ext cx="4114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Times New Roman" panose="02020603050405020304" pitchFamily="18" charset="0"/>
              <a:buChar char="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	1) Gillnet large </a:t>
            </a:r>
          </a:p>
          <a:p>
            <a:pPr eaLnBrk="1" hangingPunct="1">
              <a:buFontTx/>
              <a:buNone/>
            </a:pPr>
            <a:r>
              <a:rPr lang="en-US" altLang="en-US"/>
              <a:t>	2) Gillnet small</a:t>
            </a:r>
          </a:p>
          <a:p>
            <a:pPr eaLnBrk="1" hangingPunct="1">
              <a:buFontTx/>
              <a:buNone/>
            </a:pPr>
            <a:r>
              <a:rPr lang="en-US" altLang="en-US"/>
              <a:t>	3) Handgear</a:t>
            </a:r>
          </a:p>
          <a:p>
            <a:pPr eaLnBrk="1" hangingPunct="1">
              <a:buFontTx/>
              <a:buNone/>
            </a:pPr>
            <a:r>
              <a:rPr lang="en-US" altLang="en-US"/>
              <a:t>	4) Longline</a:t>
            </a:r>
          </a:p>
          <a:p>
            <a:pPr eaLnBrk="1" hangingPunct="1">
              <a:buFontTx/>
              <a:buNone/>
            </a:pPr>
            <a:r>
              <a:rPr lang="en-US" altLang="en-US"/>
              <a:t>	5) Midwater trawl</a:t>
            </a:r>
          </a:p>
          <a:p>
            <a:pPr eaLnBrk="1" hangingPunct="1">
              <a:buFontTx/>
              <a:buNone/>
            </a:pPr>
            <a:r>
              <a:rPr lang="en-US" altLang="en-US"/>
              <a:t>	6) Otter trawl large</a:t>
            </a:r>
          </a:p>
          <a:p>
            <a:pPr eaLnBrk="1" hangingPunct="1">
              <a:buFontTx/>
              <a:buNone/>
            </a:pPr>
            <a:r>
              <a:rPr lang="en-US" altLang="en-US"/>
              <a:t>	7) Otter trawl small</a:t>
            </a:r>
          </a:p>
          <a:p>
            <a:pPr eaLnBrk="1" hangingPunct="1">
              <a:buFontTx/>
              <a:buNone/>
            </a:pPr>
            <a:r>
              <a:rPr lang="en-US" altLang="en-US"/>
              <a:t>	8) Pot/trap large</a:t>
            </a:r>
          </a:p>
          <a:p>
            <a:pPr eaLnBrk="1" hangingPunct="1">
              <a:buFontTx/>
              <a:buNone/>
            </a:pPr>
            <a:r>
              <a:rPr lang="en-US" altLang="en-US"/>
              <a:t>	9) Pot/trap small 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33800" y="1447800"/>
            <a:ext cx="48926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Times New Roman" panose="02020603050405020304" pitchFamily="18" charset="0"/>
              <a:buChar char="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/>
              <a:t>10) Purse seine</a:t>
            </a:r>
          </a:p>
          <a:p>
            <a:pPr eaLnBrk="1" hangingPunct="1">
              <a:buFontTx/>
              <a:buNone/>
            </a:pPr>
            <a:r>
              <a:rPr lang="en-US" altLang="en-US"/>
              <a:t>11) Surf clam/ocean quahog dredge</a:t>
            </a:r>
          </a:p>
          <a:p>
            <a:pPr eaLnBrk="1" hangingPunct="1">
              <a:buFontTx/>
              <a:buNone/>
            </a:pPr>
            <a:r>
              <a:rPr lang="en-US" altLang="en-US"/>
              <a:t>12) Scallop dredge large</a:t>
            </a:r>
          </a:p>
          <a:p>
            <a:pPr eaLnBrk="1" hangingPunct="1">
              <a:buFontTx/>
              <a:buNone/>
            </a:pPr>
            <a:r>
              <a:rPr lang="en-US" altLang="en-US"/>
              <a:t>13) Scallop dredge small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57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Commercial Harvesting Data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Species-level revenue by gear is available through vessel and dealer trip reports</a:t>
            </a:r>
          </a:p>
          <a:p>
            <a:pPr eaLnBrk="1" hangingPunct="1"/>
            <a:r>
              <a:rPr lang="en-US" altLang="en-US" smtClean="0"/>
              <a:t>NOAA Fisheries observers collect trip-level cost data (fuel, oil, ice, supplies, food, bait)</a:t>
            </a:r>
          </a:p>
          <a:p>
            <a:pPr eaLnBrk="1" hangingPunct="1"/>
            <a:r>
              <a:rPr lang="en-US" altLang="en-US" smtClean="0"/>
              <a:t>Fixed cost data collected through periodic surveys of federally permitted commercial harvesters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4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Economic Impact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/>
          <a:lstStyle/>
          <a:p>
            <a:r>
              <a:rPr lang="en-US" dirty="0" smtClean="0"/>
              <a:t>Reduction in Annual Catch Limit (ACL) for summer flounder expected to reduce commercial fishing harvesting revenue by $5 million in the Northeast Region next year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8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Assign Summer Flounder $5M Reduction to Commercial Harvesting Gear Groups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76400"/>
            <a:ext cx="7305108" cy="42672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Assign Commercial Harvesting Expenses to IMPLAN Sectors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95400"/>
            <a:ext cx="8305800" cy="482582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31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Step 1: Create Northeast Region IMPLAN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958" y="1056198"/>
            <a:ext cx="9144000" cy="495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7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Step 2: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Setup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Activities/Events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</a:br>
            <a:endParaRPr lang="en-US" alt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275"/>
            <a:ext cx="9144000" cy="495168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9735081">
            <a:off x="4700268" y="1932019"/>
            <a:ext cx="509358" cy="324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248275" y="1824040"/>
            <a:ext cx="3523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76"/>
              </a:spcBef>
              <a:buClr>
                <a:schemeClr val="dk2"/>
              </a:buClr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Import </a:t>
            </a:r>
            <a:r>
              <a:rPr lang="en-US" sz="1200" dirty="0" smtClean="0">
                <a:solidFill>
                  <a:schemeClr val="bg1"/>
                </a:solidFill>
              </a:rPr>
              <a:t>Commercial Fishing Harvesting Expenses</a:t>
            </a:r>
          </a:p>
        </p:txBody>
      </p:sp>
    </p:spTree>
    <p:extLst>
      <p:ext uri="{BB962C8B-B14F-4D97-AF65-F5344CB8AC3E}">
        <p14:creationId xmlns:p14="http://schemas.microsoft.com/office/powerpoint/2010/main" val="404571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Step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2 Continued: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Arial Narrow" panose="020B0606020202030204" pitchFamily="34" charset="0"/>
              </a:rPr>
              <a:t>Setup Activities/Events</a:t>
            </a:r>
            <a:endParaRPr lang="en-US" alt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277" y="1044721"/>
            <a:ext cx="9011478" cy="4934639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rot="9735081">
            <a:off x="6874846" y="3172400"/>
            <a:ext cx="509358" cy="324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421524" y="2865710"/>
            <a:ext cx="94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76"/>
              </a:spcBef>
              <a:buClr>
                <a:schemeClr val="dk2"/>
              </a:buClr>
              <a:buSzPct val="100000"/>
            </a:pPr>
            <a:r>
              <a:rPr lang="en-US" sz="1200" dirty="0" smtClean="0">
                <a:solidFill>
                  <a:schemeClr val="bg1"/>
                </a:solidFill>
              </a:rPr>
              <a:t>Enter payments to crew</a:t>
            </a:r>
          </a:p>
        </p:txBody>
      </p:sp>
    </p:spTree>
    <p:extLst>
      <p:ext uri="{BB962C8B-B14F-4D97-AF65-F5344CB8AC3E}">
        <p14:creationId xmlns:p14="http://schemas.microsoft.com/office/powerpoint/2010/main" val="373596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Step 2 Continued: Setup Activities/Events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9348"/>
            <a:ext cx="9078116" cy="491602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9735081">
            <a:off x="7363943" y="3555173"/>
            <a:ext cx="509358" cy="324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910621" y="3099023"/>
            <a:ext cx="94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76"/>
              </a:spcBef>
              <a:buClr>
                <a:schemeClr val="dk2"/>
              </a:buClr>
              <a:buSzPct val="100000"/>
            </a:pPr>
            <a:r>
              <a:rPr lang="en-US" sz="1200" dirty="0" smtClean="0">
                <a:solidFill>
                  <a:schemeClr val="bg1"/>
                </a:solidFill>
              </a:rPr>
              <a:t>Enter owner income</a:t>
            </a:r>
          </a:p>
        </p:txBody>
      </p:sp>
    </p:spTree>
    <p:extLst>
      <p:ext uri="{BB962C8B-B14F-4D97-AF65-F5344CB8AC3E}">
        <p14:creationId xmlns:p14="http://schemas.microsoft.com/office/powerpoint/2010/main" val="26526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Step 3: Run the Scenario (economic impact of $5 million reduction in summer flounder landings)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2784"/>
            <a:ext cx="9144000" cy="495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78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Step 4: Output Economic Impact Results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86200"/>
            <a:ext cx="8748954" cy="230124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47800"/>
            <a:ext cx="7206192" cy="16764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U.S. Department of Commerce | National Oceanic and Atmospheric Administration | NOAA Fisheries | Page </a:t>
            </a: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6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FEUS Recreational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28" y="1066800"/>
            <a:ext cx="4096565" cy="53014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268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OAA Title Options">
  <a:themeElements>
    <a:clrScheme name="Custom 11">
      <a:dk1>
        <a:srgbClr val="000000"/>
      </a:dk1>
      <a:lt1>
        <a:srgbClr val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AA Fisheries Content Slides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AA Divider Slides">
  <a:themeElements>
    <a:clrScheme name="Custom 11">
      <a:dk1>
        <a:srgbClr val="000000"/>
      </a:dk1>
      <a:lt1>
        <a:srgbClr val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979</Words>
  <Application>Microsoft Office PowerPoint</Application>
  <PresentationFormat>On-screen Show (4:3)</PresentationFormat>
  <Paragraphs>120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Times New Roman</vt:lpstr>
      <vt:lpstr>Arial Narrow</vt:lpstr>
      <vt:lpstr>Calibri</vt:lpstr>
      <vt:lpstr>NOAA Title Options</vt:lpstr>
      <vt:lpstr>NOAA Fisheries Content Slides</vt:lpstr>
      <vt:lpstr>NOAA Divider Slides</vt:lpstr>
      <vt:lpstr>Northeast Region Commercial Fishing Input-Output Model (NERIOM II)  </vt:lpstr>
      <vt:lpstr>NERIOM I</vt:lpstr>
      <vt:lpstr>NERIOM I vs NERIOM II</vt:lpstr>
      <vt:lpstr>NERIOM II</vt:lpstr>
      <vt:lpstr>Model</vt:lpstr>
      <vt:lpstr>Commercial Harvesting Species/Species Groups</vt:lpstr>
      <vt:lpstr>Commercial Harvesting Gear Groups</vt:lpstr>
      <vt:lpstr>Commercial Harvesting Data</vt:lpstr>
      <vt:lpstr>Example Economic Impact Assessment</vt:lpstr>
      <vt:lpstr>Assign Summer Flounder $5M Reduction to Commercial Harvesting Gear Groups</vt:lpstr>
      <vt:lpstr>Assign Commercial Harvesting Expenses to IMPLAN Sectors</vt:lpstr>
      <vt:lpstr>Step 1: Create Northeast Region IMPLAN Model</vt:lpstr>
      <vt:lpstr>Step 2: Setup Activities/Events </vt:lpstr>
      <vt:lpstr>Step 2 Continued: Setup Activities/Events</vt:lpstr>
      <vt:lpstr>Step 2 Continued: Setup Activities/Events</vt:lpstr>
      <vt:lpstr>Step 3: Run the Scenario (economic impact of $5 million reduction in summer flounder landings)</vt:lpstr>
      <vt:lpstr>Step 4: Output Economic Impact Results</vt:lpstr>
      <vt:lpstr>FEUS Recreational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IMPLAN to Create Regional Input-Output models for Recreational and Commercial fisheries</dc:title>
  <dc:creator>James Durham</dc:creator>
  <cp:lastModifiedBy>Scott.Steinback</cp:lastModifiedBy>
  <cp:revision>50</cp:revision>
  <dcterms:created xsi:type="dcterms:W3CDTF">2012-07-23T20:47:30Z</dcterms:created>
  <dcterms:modified xsi:type="dcterms:W3CDTF">2024-09-09T22:42:22Z</dcterms:modified>
</cp:coreProperties>
</file>